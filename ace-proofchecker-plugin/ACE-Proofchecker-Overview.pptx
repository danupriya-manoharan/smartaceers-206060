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FC4E6"/>
                </a:solidFill>
                <a:latin typeface="Calibri"/>
              </a:rPr>
              <a:t>SMARTACEERS  ·  ACE PROOFCHECKER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Catch production risks before they 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712463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3712463" cy="762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64208"/>
            <a:ext cx="3310127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E88A1A"/>
                </a:solidFill>
                <a:latin typeface="Calibri"/>
              </a:rPr>
              <a:t>Problem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88A1A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IBM ACE message flows hide production-critical defects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88A1A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MQ message loss when transaction mode is off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88A1A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Unhandled errors from unconnected catch terminals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88A1A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Insecure http:// endpoints &amp; hardcoded credentials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88A1A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Missing timeouts, deeply nested ESQL/Java logic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88A1A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Found only in slow, inconsistent manual reviews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9703" y="1463040"/>
            <a:ext cx="3712463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9703" y="1463040"/>
            <a:ext cx="3712463" cy="76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1" y="1664208"/>
            <a:ext cx="3310127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1F6FB2"/>
                </a:solidFill>
                <a:latin typeface="Calibri"/>
              </a:rPr>
              <a:t>Solution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F6FB2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Automated, one-click proof-check of ACE message flows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F6FB2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Reviews the flow and its ESQL/Java logic for production risks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F6FB2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Target approach: AI-assisted analysis of flow intent &amp; code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F6FB2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Risks surfaced in the Problems view, ranked by severity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F6FB2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Each issue includes a concrete, actionable fix suggestion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F6FB2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Runs inside the ACE Toolkit — no separate tooling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76486" y="1463040"/>
            <a:ext cx="3712463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76486" y="1463040"/>
            <a:ext cx="3712463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77654" y="1664208"/>
            <a:ext cx="3310127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2E7D32"/>
                </a:solidFill>
                <a:latin typeface="Calibri"/>
              </a:rPr>
              <a:t>Benefit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Faster, repeatable reviews — no manual checklist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Critical defects caught before deployment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Best practices enforced consistently across teams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Runs inside the ACE Toolkit — zero extra tooling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Clear, actionable guidance shortens the fix loop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•  </a:t>
            </a:r>
            <a:r>
              <a:rPr sz="1250" b="0">
                <a:solidFill>
                  <a:srgbClr val="222B35"/>
                </a:solidFill>
                <a:latin typeface="Calibri"/>
              </a:rPr>
              <a:t>Foundation for automated / AI-assisted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FC4E6"/>
                </a:solidFill>
                <a:latin typeface="Calibri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MVP — one-click message-flow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4572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4572000" cy="762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45920"/>
            <a:ext cx="4169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2D52"/>
                </a:solidFill>
                <a:latin typeface="Calibri"/>
              </a:rPr>
              <a:t>How it 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329184" cy="32918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305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B35"/>
                </a:solidFill>
                <a:latin typeface="Calibri"/>
              </a:rPr>
              <a:t>Right-click a .msgflow → Run Proofcheck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15768"/>
            <a:ext cx="329184" cy="32918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9748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B35"/>
                </a:solidFill>
                <a:latin typeface="Calibri"/>
              </a:rPr>
              <a:t>Parser reads nodes, connections &amp; terminals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82696"/>
            <a:ext cx="329184" cy="32918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64408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B35"/>
                </a:solidFill>
                <a:latin typeface="Calibri"/>
              </a:rPr>
              <a:t>Loads external ESQL / Java source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9624"/>
            <a:ext cx="329184" cy="32918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831336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B35"/>
                </a:solidFill>
                <a:latin typeface="Calibri"/>
              </a:rPr>
              <a:t>7 validators run over every node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16552"/>
            <a:ext cx="329184" cy="32918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98264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B35"/>
                </a:solidFill>
                <a:latin typeface="Calibri"/>
              </a:rPr>
              <a:t>Findings → Problems view + dialog +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5623560"/>
            <a:ext cx="4169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F2D52"/>
                </a:solidFill>
                <a:latin typeface="Calibri"/>
              </a:rPr>
              <a:t>Output: </a:t>
            </a:r>
            <a:r>
              <a:rPr sz="1250" b="0">
                <a:solidFill>
                  <a:srgbClr val="5B6670"/>
                </a:solidFill>
                <a:latin typeface="Calibri"/>
              </a:rPr>
              <a:t>error / warning / info markers, severity-bucketed summary, and a timestamped run log.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1417320"/>
            <a:ext cx="6355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F2D52"/>
                </a:solidFill>
                <a:latin typeface="Calibri"/>
              </a:rPr>
              <a:t>7 validators + real ACE-format parsing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1920240"/>
            <a:ext cx="3090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9240" y="1920240"/>
            <a:ext cx="63500" cy="841248"/>
          </a:xfrm>
          <a:prstGeom prst="rect">
            <a:avLst/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13832" y="2011680"/>
            <a:ext cx="28163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2B35"/>
                </a:solidFill>
                <a:latin typeface="Calibri"/>
              </a:rPr>
              <a:t>MQ Transaction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0"/>
                </a:solidFill>
                <a:latin typeface="Calibri"/>
              </a:rPr>
              <a:t>Flags transaction mode = No (message-loss risk)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04504" y="1920240"/>
            <a:ext cx="3090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04504" y="1920240"/>
            <a:ext cx="63500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69096" y="2011680"/>
            <a:ext cx="28163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2B35"/>
                </a:solidFill>
                <a:latin typeface="Calibri"/>
              </a:rPr>
              <a:t>Catch Terminal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0"/>
                </a:solidFill>
                <a:latin typeface="Calibri"/>
              </a:rPr>
              <a:t>Unconnected catch on MQ/HTTP/File input nodes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49240" y="2907792"/>
            <a:ext cx="3090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49240" y="2907792"/>
            <a:ext cx="63500" cy="841248"/>
          </a:xfrm>
          <a:prstGeom prst="rect">
            <a:avLst/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13832" y="2999232"/>
            <a:ext cx="28163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2B35"/>
                </a:solidFill>
                <a:latin typeface="Calibri"/>
              </a:rPr>
              <a:t>Security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0"/>
                </a:solidFill>
                <a:latin typeface="Calibri"/>
              </a:rPr>
              <a:t>Hardcoded creds, http://, Basic-auth-over-HTTP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04504" y="2907792"/>
            <a:ext cx="3090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04504" y="2907792"/>
            <a:ext cx="63500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9096" y="2999232"/>
            <a:ext cx="28163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2B35"/>
                </a:solidFill>
                <a:latin typeface="Calibri"/>
              </a:rPr>
              <a:t>HTTP / REST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0"/>
                </a:solidFill>
                <a:latin typeface="Calibri"/>
              </a:rPr>
              <a:t>Timeout, auth, retry &amp; status-code handling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49240" y="3895344"/>
            <a:ext cx="3090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49240" y="3895344"/>
            <a:ext cx="63500" cy="841248"/>
          </a:xfrm>
          <a:prstGeom prst="rect">
            <a:avLst/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13832" y="3986784"/>
            <a:ext cx="28163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2B35"/>
                </a:solidFill>
                <a:latin typeface="Calibri"/>
              </a:rPr>
              <a:t>Database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0"/>
                </a:solidFill>
                <a:latin typeface="Calibri"/>
              </a:rPr>
              <a:t>Connection pooling, timeouts, data source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04504" y="3895344"/>
            <a:ext cx="3090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04504" y="3895344"/>
            <a:ext cx="63500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69096" y="3986784"/>
            <a:ext cx="28163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2B35"/>
                </a:solidFill>
                <a:latin typeface="Calibri"/>
              </a:rPr>
              <a:t>Performance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0"/>
                </a:solidFill>
                <a:latin typeface="Calibri"/>
              </a:rPr>
              <a:t>Blocking-in-loop, message size, patterns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49240" y="4882896"/>
            <a:ext cx="3090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49240" y="4882896"/>
            <a:ext cx="63500" cy="841248"/>
          </a:xfrm>
          <a:prstGeom prst="rect">
            <a:avLst/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3832" y="4974336"/>
            <a:ext cx="28163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2B35"/>
                </a:solidFill>
                <a:latin typeface="Calibri"/>
              </a:rPr>
              <a:t>Best Practices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0"/>
                </a:solidFill>
                <a:latin typeface="Calibri"/>
              </a:rPr>
              <a:t>Docs, resource cleanup, nested-IF in ESQL/Java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04504" y="4882896"/>
            <a:ext cx="3090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604504" y="4882896"/>
            <a:ext cx="63500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69096" y="4974336"/>
            <a:ext cx="28163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2B35"/>
                </a:solidFill>
                <a:latin typeface="Calibri"/>
              </a:rPr>
              <a:t>Real ACE format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0"/>
                </a:solidFill>
                <a:latin typeface="Calibri"/>
              </a:rPr>
              <a:t>SOAP/WS aliases, timeoutForServer→timeout, URL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5888736"/>
            <a:ext cx="6355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2D52"/>
                </a:solidFill>
                <a:latin typeface="Calibri"/>
              </a:rPr>
              <a:t>MVP approach: </a:t>
            </a:r>
            <a:r>
              <a:rPr sz="1200" b="0">
                <a:solidFill>
                  <a:srgbClr val="5B6670"/>
                </a:solidFill>
                <a:latin typeface="Calibri"/>
              </a:rPr>
              <a:t>delivered with deterministic Java rule-based validators (Java 11 Eclipse PDE plugin). AI-assisted analysis is the planned next step — see Future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FC4E6"/>
                </a:solidFill>
                <a:latin typeface="Calibri"/>
              </a:rPr>
              <a:t>WHERE IT GOES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3611880" cy="76200"/>
          </a:xfrm>
          <a:prstGeom prst="rect">
            <a:avLst/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64792"/>
            <a:ext cx="457200" cy="457200"/>
          </a:xfrm>
          <a:prstGeom prst="rect">
            <a:avLst/>
          </a:prstGeom>
          <a:solidFill>
            <a:srgbClr val="12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B35"/>
                </a:solidFill>
                <a:latin typeface="Calibri"/>
              </a:rPr>
              <a:t>AI-assisted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670"/>
                </a:solidFill>
                <a:latin typeface="Calibri"/>
              </a:rPr>
              <a:t>LLM pass over flows + ESQL/Java for nuanced, context-aware findings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50876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508760"/>
            <a:ext cx="3611880" cy="76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9432" y="1764792"/>
            <a:ext cx="457200" cy="457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7744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B35"/>
                </a:solidFill>
                <a:latin typeface="Calibri"/>
              </a:rPr>
              <a:t>Quick fixes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83464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670"/>
                </a:solidFill>
                <a:latin typeface="Calibri"/>
              </a:rPr>
              <a:t>One-click marker resolutions to auto-remediate common issues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38744" y="150876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38744" y="1508760"/>
            <a:ext cx="3611880" cy="762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67344" y="1764792"/>
            <a:ext cx="457200" cy="4572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237744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B35"/>
                </a:solidFill>
                <a:latin typeface="Calibri"/>
              </a:rPr>
              <a:t>Configurable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83464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670"/>
                </a:solidFill>
                <a:latin typeface="Calibri"/>
              </a:rPr>
              <a:t>Enable/disable rules &amp; tune severity per project; shareable rule sets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13632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913632"/>
            <a:ext cx="361188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9664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82312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B35"/>
                </a:solidFill>
                <a:latin typeface="Calibri"/>
              </a:rPr>
              <a:t>CI/CD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39512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670"/>
                </a:solidFill>
                <a:latin typeface="Calibri"/>
              </a:rPr>
              <a:t>Headless validation in pipelines; fail the build on critical findings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0832" y="3913632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3913632"/>
            <a:ext cx="3611880" cy="762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99432" y="4169664"/>
            <a:ext cx="457200" cy="4572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782312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B35"/>
                </a:solidFill>
                <a:latin typeface="Calibri"/>
              </a:rPr>
              <a:t>Deeper code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5239512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670"/>
                </a:solidFill>
                <a:latin typeface="Calibri"/>
              </a:rPr>
              <a:t>Full ESQL/Java parsing beyond heuristics; data-flow &amp; dead-path checks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38744" y="3913632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38744" y="3913632"/>
            <a:ext cx="3611880" cy="76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67344" y="4169664"/>
            <a:ext cx="457200" cy="457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4782312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B35"/>
                </a:solidFill>
                <a:latin typeface="Calibri"/>
              </a:rPr>
              <a:t>Project-wide &amp; 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5239512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670"/>
                </a:solidFill>
                <a:latin typeface="Calibri"/>
              </a:rPr>
              <a:t>Batch-validate apps; export HTML / SARIF dashboards and trends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